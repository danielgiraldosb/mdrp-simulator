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280160"/>
            <a:ext cx="11686032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5349240"/>
            <a:ext cx="11686032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A Biased Random-Key Genetic Algorithm
with Rolling Horizon for the
Meal Delivery Routing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04040"/>
                </a:solidFill>
                <a:latin typeface="Calibri"/>
              </a:rPr>
              <a:t>Daniel Giraldo-Herrera  ·  David Alvarez-Martinez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  <a:latin typeface="Calibri"/>
              </a:rPr>
              <a:t>Department of Industrial Engineering · Universidad de los Andes · Bogotá, Colombia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DD7EE"/>
                </a:solidFill>
                <a:latin typeface="Calibri"/>
              </a:rPr>
              <a:t>MIC 2026  |  Metaheuristics International Conference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548640" cy="658368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15568"/>
            <a:ext cx="548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115568"/>
            <a:ext cx="2560320" cy="658368"/>
          </a:xfrm>
          <a:prstGeom prst="rect">
            <a:avLst/>
          </a:prstGeom>
          <a:solidFill>
            <a:srgbClr val="2E549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22529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115568"/>
            <a:ext cx="84399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225296"/>
            <a:ext cx="8165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MDRP in Latin America — operational context &amp; logistics challenges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810512"/>
            <a:ext cx="548640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810512"/>
            <a:ext cx="548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810512"/>
            <a:ext cx="2560320" cy="658368"/>
          </a:xfrm>
          <a:prstGeom prst="rect">
            <a:avLst/>
          </a:prstGeom>
          <a:solidFill>
            <a:srgbClr val="ED7D3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192024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1810512"/>
            <a:ext cx="84399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1920240"/>
            <a:ext cx="8165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Prior work on MDRP, rolling-horizon methods, and metaheuristics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505456"/>
            <a:ext cx="548640" cy="658368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505456"/>
            <a:ext cx="548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2505456"/>
            <a:ext cx="2560320" cy="658368"/>
          </a:xfrm>
          <a:prstGeom prst="rect">
            <a:avLst/>
          </a:prstGeom>
          <a:solidFill>
            <a:srgbClr val="2E549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2615184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Problem Definition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505456"/>
            <a:ext cx="84399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2615184"/>
            <a:ext cx="8165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Sets, parameters, and rolling-horizon decision structure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200400"/>
            <a:ext cx="548640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200400"/>
            <a:ext cx="548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3200400"/>
            <a:ext cx="2560320" cy="658368"/>
          </a:xfrm>
          <a:prstGeom prst="rect">
            <a:avLst/>
          </a:prstGeom>
          <a:solidFill>
            <a:srgbClr val="ED7D3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31012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Solution Methods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3200400"/>
            <a:ext cx="84399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3310128"/>
            <a:ext cx="8165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Business Model (BM/BML) and two BRKGA variants (Coverage &amp; Travel)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895344"/>
            <a:ext cx="548640" cy="658368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895344"/>
            <a:ext cx="548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3895344"/>
            <a:ext cx="2560320" cy="658368"/>
          </a:xfrm>
          <a:prstGeom prst="rect">
            <a:avLst/>
          </a:prstGeom>
          <a:solidFill>
            <a:srgbClr val="2E5496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00507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BRKGA Deep Dive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0" y="3895344"/>
            <a:ext cx="84399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4005072"/>
            <a:ext cx="8165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Chromosome encoding, evolutionary cycle, biased crossover, decoder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590288"/>
            <a:ext cx="548640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4590288"/>
            <a:ext cx="548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4590288"/>
            <a:ext cx="2560320" cy="658368"/>
          </a:xfrm>
          <a:prstGeom prst="rect">
            <a:avLst/>
          </a:prstGeom>
          <a:solidFill>
            <a:srgbClr val="ED7D31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7000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Experimental Results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29000" y="4590288"/>
            <a:ext cx="84399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0" y="4700016"/>
            <a:ext cx="8165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24 real-world instances — coverage rate, execution time, travel efficiency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285232"/>
            <a:ext cx="548640" cy="6583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5285232"/>
            <a:ext cx="548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5285232"/>
            <a:ext cx="2560320" cy="658368"/>
          </a:xfrm>
          <a:prstGeom prst="rect">
            <a:avLst/>
          </a:prstGeom>
          <a:solidFill>
            <a:srgbClr val="1F386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39496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29000" y="5285232"/>
            <a:ext cx="84399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60" y="5394960"/>
            <a:ext cx="81655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Practical deployment guide and future research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Introduction — Meal Delivery in Latin America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A rapidly growing sector with unique urban logistics 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393192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61288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 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72768"/>
            <a:ext cx="1874519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572768"/>
            <a:ext cx="1874519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600200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$29B+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2066544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Calibri"/>
              </a:rPr>
              <a:t>Projected Latin American
online food delivery market by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572768"/>
            <a:ext cx="1874519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1572768"/>
            <a:ext cx="1874519" cy="45720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1600200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2066544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Calibri"/>
              </a:rPr>
              <a:t>Growth in platform orders
post-pandemic (2019–2024)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898648"/>
            <a:ext cx="1874519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98648"/>
            <a:ext cx="1874519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926080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60%+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" y="3392424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Calibri"/>
              </a:rPr>
              <a:t>Market share concentrated in
Uber Eats, Rappi &amp; iFood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898648"/>
            <a:ext cx="1874519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2898648"/>
            <a:ext cx="1874519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2926080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9152" y="3392424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04040"/>
                </a:solidFill>
                <a:latin typeface="Calibri"/>
              </a:rPr>
              <a:t>Average customer expected
delivery time in major LATAM cities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1115568"/>
            <a:ext cx="3794760" cy="3840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116128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URBAN LOGISTICS CHALLENGES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1572768"/>
            <a:ext cx="73152" cy="7772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53712" y="1572768"/>
            <a:ext cx="3721608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1618488"/>
            <a:ext cx="3538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00"/>
                </a:solidFill>
                <a:latin typeface="Calibri"/>
              </a:rPr>
              <a:t>Traffic Congestion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1892808"/>
            <a:ext cx="35387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Bogotá, Mexico City, São Paulo rank among world's worst congestion cities — unpredictable travel times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2441448"/>
            <a:ext cx="73152" cy="7772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53712" y="2441448"/>
            <a:ext cx="372160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2487168"/>
            <a:ext cx="3538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00"/>
                </a:solidFill>
                <a:latin typeface="Calibri"/>
              </a:rPr>
              <a:t>Informal Urban Layout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2761488"/>
            <a:ext cx="35387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Many neighborhoods lack standardized addressing; routing algorithms fail without real GPS traces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3310128"/>
            <a:ext cx="73152" cy="7772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3712" y="3310128"/>
            <a:ext cx="3721608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45152" y="3355848"/>
            <a:ext cx="3538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00"/>
                </a:solidFill>
                <a:latin typeface="Calibri"/>
              </a:rPr>
              <a:t>Heterogeneous Fleet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3630168"/>
            <a:ext cx="35387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Motorcycles, bicycles, walkers operate in the same city — different speeds, costs, and range constraints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4178808"/>
            <a:ext cx="73152" cy="7772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53712" y="4178808"/>
            <a:ext cx="372160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45152" y="4224528"/>
            <a:ext cx="3538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00"/>
                </a:solidFill>
                <a:latin typeface="Calibri"/>
              </a:rPr>
              <a:t>Demand Volatility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5152" y="4498848"/>
            <a:ext cx="35387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Lunch &amp; dinner peaks create 5–10× demand surges; weekday vs. weekend patterns differ widely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5047488"/>
            <a:ext cx="73152" cy="7772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53712" y="5047488"/>
            <a:ext cx="3721608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5152" y="5093208"/>
            <a:ext cx="3538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00"/>
                </a:solidFill>
                <a:latin typeface="Calibri"/>
              </a:rPr>
              <a:t>Courier Informality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5152" y="5367528"/>
            <a:ext cx="35387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Gig-economy workers have irregular shift patterns; real-time availability is highly stochastic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1115568"/>
            <a:ext cx="3502152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1161288"/>
            <a:ext cx="3319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IT IS HARD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03920" y="1572768"/>
            <a:ext cx="350215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03920" y="1572768"/>
            <a:ext cx="3502152" cy="320040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77072" y="1609344"/>
            <a:ext cx="3355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NP-hard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77072" y="1911096"/>
            <a:ext cx="3355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Even small instances require exponential search without heuristics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2441448"/>
            <a:ext cx="350215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03920" y="2441448"/>
            <a:ext cx="3502152" cy="320040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77072" y="2478024"/>
            <a:ext cx="3355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Real-Time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77072" y="2779776"/>
            <a:ext cx="3355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Dispatch decisions must complete in &lt; 2 min per window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03920" y="3310128"/>
            <a:ext cx="350215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503920" y="3310128"/>
            <a:ext cx="3502152" cy="320040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77072" y="3346704"/>
            <a:ext cx="3355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Stochastic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77072" y="3648456"/>
            <a:ext cx="3355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Orders arrive dynamically; future demand is unknown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03920" y="4178808"/>
            <a:ext cx="350215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03920" y="4178808"/>
            <a:ext cx="3502152" cy="320040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77072" y="4215384"/>
            <a:ext cx="3355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Multi-constraint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77072" y="4517136"/>
            <a:ext cx="3355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Time windows + vehicle capacity + courier shifts + K≤3 orders/route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03920" y="5047488"/>
            <a:ext cx="350215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503920" y="5047488"/>
            <a:ext cx="3502152" cy="320040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77072" y="5084064"/>
            <a:ext cx="3355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Scale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77072" y="5385816"/>
            <a:ext cx="3355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Up to 59,167 orders/day on real LATAM data used in this work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5989320"/>
            <a:ext cx="11731752" cy="475488"/>
          </a:xfrm>
          <a:prstGeom prst="rect">
            <a:avLst/>
          </a:prstGeom>
          <a:solidFill>
            <a:srgbClr val="1F386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6016752"/>
            <a:ext cx="11457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Research Question:  Can a population-based metaheuristic (BRKGA) outperform greedy dispatching within a rolling-horizon framework on real large-scale LATAM meal-delivery data?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On-demand food delivery: a growing operational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210312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Uber Eats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097280"/>
            <a:ext cx="2103120" cy="45720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Rappi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097280"/>
            <a:ext cx="2103120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DoorDash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097280"/>
            <a:ext cx="2103120" cy="457200"/>
          </a:xfrm>
          <a:prstGeom prst="rect">
            <a:avLst/>
          </a:prstGeom>
          <a:solidFill>
            <a:srgbClr val="E0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Glovo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1097280"/>
            <a:ext cx="2103120" cy="457200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Just Eat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83080"/>
            <a:ext cx="26517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1783080"/>
            <a:ext cx="265176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8013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Stochastic
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3317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Orders arrive unpredictably throughout the 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1783080"/>
            <a:ext cx="26517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1783080"/>
            <a:ext cx="265176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18013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Tight Time
Windows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3317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Customers expect delivery within minutes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783080"/>
            <a:ext cx="26517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783080"/>
            <a:ext cx="265176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8013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Heterogeneous
Fleet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3317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Motorcycles, bikes, walkers — different speeds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1783080"/>
            <a:ext cx="26517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0" y="1783080"/>
            <a:ext cx="265176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18013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Real-Time
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3317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Must assign &amp; route in &lt; 2 minutes per epoch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474720"/>
            <a:ext cx="11640312" cy="640080"/>
          </a:xfrm>
          <a:prstGeom prst="rect">
            <a:avLst/>
          </a:prstGeom>
          <a:solidFill>
            <a:srgbClr val="1F3864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520440"/>
            <a:ext cx="113659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MDRP: Assign couriers to order batches and compute delivery routes in real time — NP-hard, dynamic, stochastic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4251960"/>
            <a:ext cx="116403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Rolling-horizon policy: decisions re-made every Δ = 2 minutes using newly observed information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Performance metric: coverage rate ρ = |orders delivered| / |orders placed|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Real data from a Colombian delivery app — 24 instances, up to 59,167 orders/day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MDRP, planning horizons, metaheuristics, and the research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2834640" cy="45720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9728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The MDRP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36192"/>
            <a:ext cx="283464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591056"/>
            <a:ext cx="265176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404040"/>
                </a:solidFill>
                <a:latin typeface="Calibri"/>
              </a:rPr>
              <a:t>• Formally defined by Reyes et al. (2018) — stochastic orders, time-window constraints, rolling-horizon framework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04040"/>
                </a:solidFill>
                <a:latin typeface="Calibri"/>
              </a:rPr>
              <a:t>• Ulmer et al. (2021) — Anticipative Customer Assignment (ACA) to avoid premature courier–order matching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04040"/>
                </a:solidFill>
                <a:latin typeface="Calibri"/>
              </a:rPr>
              <a:t>• Extensions: multi-objective (Dusadeerungsikul 2023), ghost kitchens (Neria 2024), shared logistics (Bi 2023)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9272" y="1078992"/>
            <a:ext cx="283464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109728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Planning Horizons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9272" y="1536192"/>
            <a:ext cx="283464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1591056"/>
            <a:ext cx="265176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404040"/>
                </a:solidFill>
                <a:latin typeface="Calibri"/>
              </a:rPr>
              <a:t>• Static: full info assumed; high quality but no real-time reactivity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04040"/>
                </a:solidFill>
                <a:latin typeface="Calibri"/>
              </a:rPr>
              <a:t>• Rolling-Horizon (RH): re-solve each window → incorporates new arrivals (Reyes 2018; Auad 2023)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04040"/>
                </a:solidFill>
                <a:latin typeface="Calibri"/>
              </a:rPr>
              <a:t>• Fully dynamic: event-driven replanning (Steever 2019) or probabilistic forecasts (Ulmer 2021)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18504" y="1078992"/>
            <a:ext cx="2834640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109728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Metaheuristics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18504" y="1536192"/>
            <a:ext cx="283464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1591056"/>
            <a:ext cx="265176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404040"/>
                </a:solidFill>
                <a:latin typeface="Calibri"/>
              </a:rPr>
              <a:t>• NSGA-II for green delivery (Liao 2020); GA with fairness constraints (Xie 2024)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04040"/>
                </a:solidFill>
                <a:latin typeface="Calibri"/>
              </a:rPr>
              <a:t>• Hybrid GA + local search for VRPTW — elite preservation, diversity (Bañós 2013)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04040"/>
                </a:solidFill>
                <a:latin typeface="Calibri"/>
              </a:rPr>
              <a:t>• RL (DDQN, deep RL) — promising but needs training data; limited interpretability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04040"/>
                </a:solidFill>
                <a:latin typeface="Calibri"/>
              </a:rPr>
              <a:t>• GRASP on same LA dataset — direct methodological baseline (Giraldo-Herrera 2024)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17736" y="1078992"/>
            <a:ext cx="283464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109728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Research Gap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17736" y="1536192"/>
            <a:ext cx="283464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9176" y="1591056"/>
            <a:ext cx="2651760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404040"/>
                </a:solidFill>
                <a:latin typeface="Calibri"/>
              </a:rPr>
              <a:t>• RH inner solvers are almost exclusively greedy constructive heuristics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04040"/>
                </a:solidFill>
                <a:latin typeface="Calibri"/>
              </a:rPr>
              <a:t>• Population-based search inside each rolling window has NOT been studied for MDRP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04040"/>
                </a:solidFill>
                <a:latin typeface="Calibri"/>
              </a:rPr>
              <a:t>• Quality–speed trade-off rarely quantified across heterogeneous instance sizes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404040"/>
                </a:solidFill>
                <a:latin typeface="Calibri"/>
              </a:rPr>
              <a:t>• → We embed BRKGA inside RH and compare 2 fitness variants on 24 real instances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Positioning of the Present Work in the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RH: rolling horizon  ·  Cov: coverage  ·  TT: travel time  ·  ✓: yes  ·  — : no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2834640" cy="429768"/>
          </a:xfrm>
          <a:prstGeom prst="rect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" y="1124712"/>
            <a:ext cx="27614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Study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078992"/>
            <a:ext cx="1234440" cy="429768"/>
          </a:xfrm>
          <a:prstGeom prst="rect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91256" y="1124712"/>
            <a:ext cx="1161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078992"/>
            <a:ext cx="530352" cy="429768"/>
          </a:xfrm>
          <a:prstGeom prst="rect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124712"/>
            <a:ext cx="457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9472" y="1078992"/>
            <a:ext cx="1005840" cy="429768"/>
          </a:xfrm>
          <a:prstGeom prst="rect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1124712"/>
            <a:ext cx="932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5312" y="1078992"/>
            <a:ext cx="960120" cy="429768"/>
          </a:xfrm>
          <a:prstGeom prst="rect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61888" y="1124712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Dynamic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85432" y="1078992"/>
            <a:ext cx="960120" cy="429768"/>
          </a:xfrm>
          <a:prstGeom prst="rect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2008" y="1124712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Real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45552" y="1078992"/>
            <a:ext cx="1280160" cy="429768"/>
          </a:xfrm>
          <a:prstGeom prst="rect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8" y="1124712"/>
            <a:ext cx="12070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Instance size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508760"/>
            <a:ext cx="28346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" y="1554480"/>
            <a:ext cx="27614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Reyes et al. (2018)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1508760"/>
            <a:ext cx="12344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91256" y="1554480"/>
            <a:ext cx="1161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Greedy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1508760"/>
            <a:ext cx="530352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25696" y="1554480"/>
            <a:ext cx="457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19472" y="1508760"/>
            <a:ext cx="10058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1554480"/>
            <a:ext cx="932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TT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25312" y="1508760"/>
            <a:ext cx="96012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61888" y="1554480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85432" y="1508760"/>
            <a:ext cx="96012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22008" y="1554480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45552" y="1508760"/>
            <a:ext cx="128016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8" y="1554480"/>
            <a:ext cx="12070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Small–Med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1938528"/>
            <a:ext cx="28346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" y="1984248"/>
            <a:ext cx="27614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Ulmer et al. (2021)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54680" y="1938528"/>
            <a:ext cx="12344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91256" y="1984248"/>
            <a:ext cx="1161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DP / ACA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1938528"/>
            <a:ext cx="53035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25696" y="1984248"/>
            <a:ext cx="457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19472" y="1938528"/>
            <a:ext cx="1005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56048" y="1984248"/>
            <a:ext cx="932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TT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25312" y="1938528"/>
            <a:ext cx="960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61888" y="1984248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85432" y="1938528"/>
            <a:ext cx="960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22008" y="1984248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45552" y="1938528"/>
            <a:ext cx="12801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82128" y="1984248"/>
            <a:ext cx="12070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Small–Med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2368296"/>
            <a:ext cx="28346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6" y="2414016"/>
            <a:ext cx="27614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Steever et al. (2019)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54680" y="2368296"/>
            <a:ext cx="12344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91256" y="2414016"/>
            <a:ext cx="1161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Greedy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2368296"/>
            <a:ext cx="530352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25696" y="2414016"/>
            <a:ext cx="457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19472" y="2368296"/>
            <a:ext cx="10058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56048" y="2414016"/>
            <a:ext cx="932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TT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25312" y="2368296"/>
            <a:ext cx="96012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61888" y="2414016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85432" y="2368296"/>
            <a:ext cx="96012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22008" y="2414016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45552" y="2368296"/>
            <a:ext cx="128016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82128" y="2414016"/>
            <a:ext cx="12070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Med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2798064"/>
            <a:ext cx="28346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6616" y="2843784"/>
            <a:ext cx="27614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Yildiz &amp; Savelsbergh (2019)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54680" y="2798064"/>
            <a:ext cx="12344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91256" y="2843784"/>
            <a:ext cx="1161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Exact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89120" y="2798064"/>
            <a:ext cx="53035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25696" y="2843784"/>
            <a:ext cx="457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0A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19472" y="2798064"/>
            <a:ext cx="1005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56048" y="2843784"/>
            <a:ext cx="932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Cost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25312" y="2798064"/>
            <a:ext cx="960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961888" y="2843784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0A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85432" y="2798064"/>
            <a:ext cx="960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22008" y="2843784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45552" y="2798064"/>
            <a:ext cx="12801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82128" y="2843784"/>
            <a:ext cx="12070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Small–Med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3227832"/>
            <a:ext cx="28346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6616" y="3273552"/>
            <a:ext cx="27614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Liao et al. (2020)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54680" y="3227832"/>
            <a:ext cx="12344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91256" y="3273552"/>
            <a:ext cx="1161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NSGA-II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89120" y="3227832"/>
            <a:ext cx="530352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25696" y="3273552"/>
            <a:ext cx="457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0A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19472" y="3227832"/>
            <a:ext cx="10058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56048" y="3273552"/>
            <a:ext cx="932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Multi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25312" y="3227832"/>
            <a:ext cx="96012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61888" y="3273552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0A0"/>
                </a:solidFill>
                <a:latin typeface="Calibr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85432" y="3227832"/>
            <a:ext cx="96012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22008" y="3273552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Synth.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45552" y="3227832"/>
            <a:ext cx="128016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82128" y="3273552"/>
            <a:ext cx="12070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Small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3657600"/>
            <a:ext cx="28346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6616" y="3703320"/>
            <a:ext cx="27614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Bozanta et al. (2022)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154680" y="3657600"/>
            <a:ext cx="12344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191256" y="3703320"/>
            <a:ext cx="1161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RL (DDQN)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89120" y="3657600"/>
            <a:ext cx="53035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425696" y="3703320"/>
            <a:ext cx="457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19472" y="3657600"/>
            <a:ext cx="1005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956048" y="3703320"/>
            <a:ext cx="932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TT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925312" y="3657600"/>
            <a:ext cx="960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961888" y="3703320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885432" y="3657600"/>
            <a:ext cx="960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922008" y="3703320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845552" y="3657600"/>
            <a:ext cx="12801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882128" y="3703320"/>
            <a:ext cx="12070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Small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" y="4087368"/>
            <a:ext cx="28346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56616" y="4133088"/>
            <a:ext cx="27614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Auad et al. (2023)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154680" y="4087368"/>
            <a:ext cx="12344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191256" y="4133088"/>
            <a:ext cx="1161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Greedy RH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389120" y="4087368"/>
            <a:ext cx="530352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25696" y="4133088"/>
            <a:ext cx="457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919472" y="4087368"/>
            <a:ext cx="10058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956048" y="4133088"/>
            <a:ext cx="932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Fairness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925312" y="4087368"/>
            <a:ext cx="96012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961888" y="4133088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885432" y="4087368"/>
            <a:ext cx="96012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922008" y="4133088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845552" y="4087368"/>
            <a:ext cx="128016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882128" y="4133088"/>
            <a:ext cx="12070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Med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20040" y="4517136"/>
            <a:ext cx="28346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56616" y="4562856"/>
            <a:ext cx="27614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Giraldo-Herrera &amp; Álvarez (2024)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154680" y="4517136"/>
            <a:ext cx="12344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191256" y="4562856"/>
            <a:ext cx="1161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GRASP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389120" y="4517136"/>
            <a:ext cx="53035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425696" y="4562856"/>
            <a:ext cx="457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0A0"/>
                </a:solidFill>
                <a:latin typeface="Calibri"/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919472" y="4517136"/>
            <a:ext cx="1005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956048" y="4562856"/>
            <a:ext cx="932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Cov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925312" y="4517136"/>
            <a:ext cx="960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961888" y="4562856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0A0"/>
                </a:solidFill>
                <a:latin typeface="Calibri"/>
              </a:rPr>
              <a:t>—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885432" y="4517136"/>
            <a:ext cx="9601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922008" y="4562856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845552" y="4517136"/>
            <a:ext cx="12801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882128" y="4562856"/>
            <a:ext cx="12070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Small–Large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20040" y="4946904"/>
            <a:ext cx="28346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56616" y="4992624"/>
            <a:ext cx="27614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Martínez-Sykora et al. (2024)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154680" y="4946904"/>
            <a:ext cx="12344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191256" y="4992624"/>
            <a:ext cx="1161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RH sched.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389120" y="4946904"/>
            <a:ext cx="530352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425696" y="4992624"/>
            <a:ext cx="457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919472" y="4946904"/>
            <a:ext cx="100584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956048" y="4992624"/>
            <a:ext cx="932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Fairness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925312" y="4946904"/>
            <a:ext cx="96012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961888" y="4992624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885432" y="4946904"/>
            <a:ext cx="96012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922008" y="4992624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845552" y="4946904"/>
            <a:ext cx="1280160" cy="42976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882128" y="4992624"/>
            <a:ext cx="12070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Calibri"/>
              </a:rPr>
              <a:t>Small–Med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20040" y="5376672"/>
            <a:ext cx="2834640" cy="429768"/>
          </a:xfrm>
          <a:prstGeom prst="rect">
            <a:avLst/>
          </a:prstGeom>
          <a:solidFill>
            <a:srgbClr val="FFE6CC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56616" y="5422392"/>
            <a:ext cx="27614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5000"/>
                </a:solidFill>
                <a:latin typeface="Calibri"/>
              </a:rPr>
              <a:t>This work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154680" y="5376672"/>
            <a:ext cx="1234440" cy="429768"/>
          </a:xfrm>
          <a:prstGeom prst="rect">
            <a:avLst/>
          </a:prstGeom>
          <a:solidFill>
            <a:srgbClr val="FFE6CC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191256" y="5422392"/>
            <a:ext cx="1161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000"/>
                </a:solidFill>
                <a:latin typeface="Calibri"/>
              </a:rPr>
              <a:t>BRKGA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389120" y="5376672"/>
            <a:ext cx="530352" cy="429768"/>
          </a:xfrm>
          <a:prstGeom prst="rect">
            <a:avLst/>
          </a:prstGeom>
          <a:solidFill>
            <a:srgbClr val="FFE6CC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425696" y="5422392"/>
            <a:ext cx="457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000"/>
                </a:solidFill>
                <a:latin typeface="Calibri"/>
              </a:rPr>
              <a:t>✓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919472" y="5376672"/>
            <a:ext cx="1005840" cy="429768"/>
          </a:xfrm>
          <a:prstGeom prst="rect">
            <a:avLst/>
          </a:prstGeom>
          <a:solidFill>
            <a:srgbClr val="FFE6CC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956048" y="5422392"/>
            <a:ext cx="9326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000"/>
                </a:solidFill>
                <a:latin typeface="Calibri"/>
              </a:rPr>
              <a:t>Cov / TT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925312" y="5376672"/>
            <a:ext cx="960120" cy="429768"/>
          </a:xfrm>
          <a:prstGeom prst="rect">
            <a:avLst/>
          </a:prstGeom>
          <a:solidFill>
            <a:srgbClr val="FFE6CC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961888" y="5422392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000"/>
                </a:solidFill>
                <a:latin typeface="Calibri"/>
              </a:rPr>
              <a:t>✓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885432" y="5376672"/>
            <a:ext cx="960120" cy="429768"/>
          </a:xfrm>
          <a:prstGeom prst="rect">
            <a:avLst/>
          </a:prstGeom>
          <a:solidFill>
            <a:srgbClr val="FFE6CC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922008" y="5422392"/>
            <a:ext cx="8869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000"/>
                </a:solidFill>
                <a:latin typeface="Calibri"/>
              </a:rPr>
              <a:t>✓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845552" y="5376672"/>
            <a:ext cx="1280160" cy="429768"/>
          </a:xfrm>
          <a:prstGeom prst="rect">
            <a:avLst/>
          </a:prstGeom>
          <a:solidFill>
            <a:srgbClr val="FFE6CC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882128" y="5422392"/>
            <a:ext cx="12070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000"/>
                </a:solidFill>
                <a:latin typeface="Calibri"/>
              </a:rPr>
              <a:t>Small–Large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20040" y="5861304"/>
            <a:ext cx="11731752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11480" y="5888736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BRKGA-RH is the first population-based metaheuristic integrated with rolling-horizon dispatch for the MDRP — covering both Coverage and Travel Time objectives on real Large-scale instances.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Problem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Sets, parameters, and rolling-horizon decision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0515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SETS &amp; NOTATION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5669280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4264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Customers — geo-located delivery points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47088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90195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9019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Restaurants — order pickup locations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22576"/>
            <a:ext cx="5669280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37744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3774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Orders — (restaurant, customer, time window) tuples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798064"/>
            <a:ext cx="5669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85292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85292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Couriers — heterogeneous: speed, shift, location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273552"/>
            <a:ext cx="5669280" cy="457200"/>
          </a:xfrm>
          <a:prstGeom prst="rect">
            <a:avLst/>
          </a:prstGeom>
          <a:solidFill>
            <a:srgbClr val="BDD7EE"/>
          </a:solidFill>
          <a:ln w="635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328416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3284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Routes — feasible pickup+delivery sequences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8862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KEY PARAMETERS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206240"/>
            <a:ext cx="5669280" cy="420624"/>
          </a:xfrm>
          <a:prstGeom prst="rect">
            <a:avLst/>
          </a:prstGeom>
          <a:solidFill>
            <a:srgbClr val="FFE6CC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2428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Calibri"/>
              </a:rPr>
              <a:t>Δ = 2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24281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Rolling-horizon window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645152"/>
            <a:ext cx="5669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681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Calibri"/>
              </a:rPr>
              <a:t>K = ≤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6817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Max orders per route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084064"/>
            <a:ext cx="5669280" cy="420624"/>
          </a:xfrm>
          <a:prstGeom prst="rect">
            <a:avLst/>
          </a:prstGeom>
          <a:solidFill>
            <a:srgbClr val="FFE6CC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Calibri"/>
              </a:rPr>
              <a:t>D_max = 10 km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120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Max courier-to-store distance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522976"/>
            <a:ext cx="5669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5595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Calibri"/>
              </a:rPr>
              <a:t>ρ = Coverage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5595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Primary objective: |Ō|/|O|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1051560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ROLLING HORIZON STRUCTURE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444752"/>
            <a:ext cx="5669280" cy="201168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16459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04040"/>
                </a:solidFill>
                <a:latin typeface="Calibri"/>
              </a:rPr>
              <a:t>← Operational Day (1 440 min) 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947672"/>
            <a:ext cx="1005840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194767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w=0
(t=0)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96912" y="1947672"/>
            <a:ext cx="1005840" cy="59436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96912" y="194767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w=1
(t=2)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75904" y="1947672"/>
            <a:ext cx="1005840" cy="59436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75904" y="194767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w=2
(t=4)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54896" y="1947672"/>
            <a:ext cx="100584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54896" y="194767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04040"/>
                </a:solidFill>
                <a:latin typeface="Calibri"/>
              </a:rPr>
              <a:t>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33888" y="1947672"/>
            <a:ext cx="100584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33888" y="194767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w=720
(t=1440)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2679192"/>
            <a:ext cx="411480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267919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2679192"/>
            <a:ext cx="5257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274320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Observe O^w (pending orders) and C^w (idle couriers)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3337560"/>
            <a:ext cx="411480" cy="59436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3337560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3337560"/>
            <a:ext cx="5257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20840" y="3401568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(BML only) Forecast demand → defer marginal stores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3995928"/>
            <a:ext cx="411480" cy="59436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0" y="3995928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29400" y="3995928"/>
            <a:ext cx="5257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20840" y="4059936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Generate candidate routes S^w for each courier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4654296"/>
            <a:ext cx="4114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7920" y="4654296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29400" y="4654296"/>
            <a:ext cx="5257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20840" y="4718304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Solve assignment: select conflict-free subset A^w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5312664"/>
            <a:ext cx="41148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20" y="5312664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29400" y="5312664"/>
            <a:ext cx="5257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20840" y="5376672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Dispatch A^w → couriers depart; advance to w+1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Four Dispatching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All share the same rolling-horizon architecture (Δ = 2 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097280"/>
            <a:ext cx="265176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097280"/>
            <a:ext cx="2651760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13385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276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Business
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" y="217627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1284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Score-based candidate
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" y="304495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8152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Greedy conflict-free
selection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391363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020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No future information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" y="478231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81888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Fast &amp; deterministic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097280"/>
            <a:ext cx="265176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80" y="1097280"/>
            <a:ext cx="265176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113385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16276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Business Model
Lookahead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217627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221284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Phase 0: demand-forecast
deferral filter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93008" y="304495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308152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Phases 1+2 same as BM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3008" y="391363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395020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Defers orders likely to
batch with future arrivals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478231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481888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Best for large instances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1097280"/>
            <a:ext cx="265176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1097280"/>
            <a:ext cx="2651760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113385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BRKGA-C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16276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BRKGA
Coverage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64808" y="217627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221284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Genetic algorithm with
random-key encoding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64808" y="304495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308152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Tiered fitness: maximize
coverage ≥ 60% first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64808" y="391363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395020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10 pop × 10 generations
per window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64808" y="478231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81888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Best for small/medium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26880" y="1097280"/>
            <a:ext cx="265176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26880" y="1097280"/>
            <a:ext cx="2651760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113385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BRKGA-T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16276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BRKGA
Travel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36608" y="217627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0" y="221284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Same framework as
BRKGA-Coverage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36608" y="304495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0" y="308152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Softer penalties allow
travel-time tradeoffs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36608" y="391363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0" y="395020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~25% faster execution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36608" y="4782312"/>
            <a:ext cx="2432304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0" y="4818888"/>
            <a:ext cx="2286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Preferred in practice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Algorithm 1 — Business Model Lookahead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Three-phase dispatch: forecast filter → candidate generation → conflict-free selection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1097280" cy="59436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1453896"/>
            <a:ext cx="104241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Phase 0
(BML only)
Lookahead
Filter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880360"/>
            <a:ext cx="233172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916936"/>
            <a:ext cx="2276856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Phase 1
Candidate
Generation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120640"/>
            <a:ext cx="100584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5157216"/>
            <a:ext cx="950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Phase 2
Conflict-Free
Selection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1078992"/>
            <a:ext cx="10469880" cy="5349240"/>
          </a:xfrm>
          <a:prstGeom prst="rect">
            <a:avLst/>
          </a:prstGeom>
          <a:solidFill>
            <a:srgbClr val="1E1E2E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18488" y="1170432"/>
            <a:ext cx="10250424" cy="5166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D700"/>
                </a:solidFill>
                <a:latin typeface="Courier New"/>
              </a:rPr>
              <a:t>Algorithm 1: Business Model Lookahead — window 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6A9955"/>
                </a:solidFill>
                <a:latin typeface="Courier New"/>
              </a:rPr>
              <a:t>Require: O^w, C^w, current time t_w, order history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6A9955"/>
                </a:solidFill>
                <a:latin typeface="Courier New"/>
              </a:rPr>
              <a:t>Ensure:  Conflict-free assignment set A^w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urier New"/>
              </a:rPr>
              <a:t>1:  Compute f_hat(r, t_w) for all stores r              ▷ demand forecast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BE9FD"/>
                </a:solidFill>
                <a:latin typeface="Courier New"/>
              </a:rPr>
              <a:t>2:  Λ^w ← ∅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3:  for all store r with O^w_r ≠ ∅ 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4:    if |O^w_r| ≤ 2  AND  f_hat ≥ 3  AND  min_deadline &gt; 25 min then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6A9955"/>
                </a:solidFill>
                <a:latin typeface="Courier New"/>
              </a:rPr>
              <a:t>        5:        continue                                        ▷ Phase 0 defer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6:    end if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urier New"/>
              </a:rPr>
              <a:t>    7:    Sort O^w_r by deadline; partition → batches s_1…s_Bmax  ▷ Phase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8:    for all batch s_j, courier c in top-N_max nearby couriers 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BE9FD"/>
                </a:solidFill>
                <a:latin typeface="Courier New"/>
              </a:rPr>
              <a:t>        9:        τ_cs ← best feasible route via 3-heuristic ensemble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    10:       if route feasible then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BE9FD"/>
                </a:solidFill>
                <a:latin typeface="Courier New"/>
              </a:rPr>
              <a:t>            11:           Λ^w ← Λ^w ∪ { (c, s_j, score(c, s_j))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    12:       end if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13:   end for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14: end for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D700"/>
                </a:solidFill>
                <a:latin typeface="Courier New"/>
              </a:rPr>
              <a:t>15: Sort Λ^w by score (descending)                       ▷ Phase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BE9FD"/>
                </a:solidFill>
                <a:latin typeface="Courier New"/>
              </a:rPr>
              <a:t>16: A^w ← ∅;  U_C ← ∅;  U_O ← ∅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17: for all (c, s, ·) ∈ Λ^w 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18:   if c ∉ U_C  AND  s ∩ U_O = ∅ then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BE9FD"/>
                </a:solidFill>
                <a:latin typeface="Courier New"/>
              </a:rPr>
              <a:t>        19:       A^w ← A^w ∪ {(c,s)};  U_C ← U_C∪{c};  U_O ← U_O∪s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20:   end if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21: end for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D700"/>
                </a:solidFill>
                <a:latin typeface="Courier New"/>
              </a:rPr>
              <a:t>22: return A^w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6080760"/>
            <a:ext cx="10469880" cy="384048"/>
          </a:xfrm>
          <a:prstGeom prst="rect">
            <a:avLst/>
          </a:prstGeom>
          <a:solidFill>
            <a:srgbClr val="2A2A3E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609904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D700"/>
                </a:solidFill>
                <a:latin typeface="Courier New"/>
              </a:rPr>
              <a:t>score(c,s) = k × 10,000 + u(s) × 10 − τ_cs      where  u(s) = max(0, 100 − min_deadline_remaining)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BRKGA — Chromosome Encoding &amp; Decoder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Random-key vectors → feasible courier-order assignments without repair operators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CHROMOSOME  x  (length = |O^w| + |C^w|)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521208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17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Order Keys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19072"/>
            <a:ext cx="100584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7190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993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0.91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08176" y="1719072"/>
            <a:ext cx="100584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8176" y="17190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1993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0.34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50592" y="1719072"/>
            <a:ext cx="100584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0592" y="17190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0592" y="1993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0.77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3008" y="1719072"/>
            <a:ext cx="100584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3008" y="17190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1993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0.55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5424" y="1719072"/>
            <a:ext cx="100584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17190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1993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23560" y="1627632"/>
            <a:ext cx="54864" cy="8229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16916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04040"/>
                </a:solidFill>
                <a:latin typeface="Calibri"/>
              </a:rPr>
              <a:t>|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33288" y="1463040"/>
            <a:ext cx="3200400" cy="731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33288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AD47"/>
                </a:solidFill>
                <a:latin typeface="Calibri"/>
              </a:rPr>
              <a:t>Courier Keys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33288" y="1719072"/>
            <a:ext cx="100584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33288" y="17190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33288" y="1993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0.82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75704" y="1719072"/>
            <a:ext cx="100584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75704" y="17190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75704" y="1993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0.47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1719072"/>
            <a:ext cx="100584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17190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1993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0.63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24505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  <a:latin typeface="Calibri"/>
              </a:rPr>
              <a:t>↓  Sort descending by key value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743200"/>
            <a:ext cx="50292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2761488"/>
            <a:ext cx="4754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Order priority:  o₁ (0.91)  ≻  o₃ (0.77)  ≻  o₄ (0.55)  ≻  o₂ (0.34)  ≻  o₅ (0.12)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2743200"/>
            <a:ext cx="3200400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0" y="2761488"/>
            <a:ext cx="3017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Courier preference:  c₁ (0.82)  ≻  c₃ (0.63)  ≻  c₂ (0.47)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10789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HYPER-PARAMETERS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1426464"/>
            <a:ext cx="3017520" cy="420624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06840" y="147218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ourier New"/>
              </a:rPr>
              <a:t>Nₚ =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14721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Population size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1865376"/>
            <a:ext cx="3017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191109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ourier New"/>
              </a:rPr>
              <a:t>Gₘₐₓ = 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19110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Generations / window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61120" y="2304288"/>
            <a:ext cx="3017520" cy="420624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840" y="23500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ourier New"/>
              </a:rPr>
              <a:t>Nₑ =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2350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Elite individuals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61120" y="2743200"/>
            <a:ext cx="3017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06840" y="27889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ourier New"/>
              </a:rPr>
              <a:t>Nₘ = 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2788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Mutant individuals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61120" y="3182112"/>
            <a:ext cx="3017520" cy="420624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06840" y="322783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ourier New"/>
              </a:rPr>
              <a:t>pₑ = 0.7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32278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Elite crossover bias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61120" y="3621024"/>
            <a:ext cx="3017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06840" y="36667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ourier New"/>
              </a:rPr>
              <a:t>K = 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36667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Couriers eval / batch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33375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GENETIC OPERATORS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703320"/>
            <a:ext cx="265176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37033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ELITE  (Nₑ=2)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087368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8912" y="411480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Top-2 solutions copied unchanged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0" y="3703320"/>
            <a:ext cx="265176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0" y="37033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CROSSOVER  (Nₒ=6)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0" y="4087368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73552" y="411480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Each gene: x_elite w.p. 0.7, x_non-elite w.p. 0.3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35040" y="3703320"/>
            <a:ext cx="265176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35040" y="37033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MUTANTS  (Nₘ=2)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4087368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08192" y="411480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Drawn from U[0,1] — maintains diversity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BRKGA — Evolutionary Cycle per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Inside each Δ=2 min epoch: Nₚ=10 chromosomes evolved for Gₘₐₓ=10 generations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117317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15568"/>
            <a:ext cx="11457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Each window w:  observe O^w and C^w  →  run BRKGA  →  dispatch best assignment A*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00200"/>
            <a:ext cx="1783080" cy="822960"/>
          </a:xfrm>
          <a:prstGeom prst="rect">
            <a:avLst/>
          </a:prstGeom>
          <a:solidFill>
            <a:srgbClr val="2E5496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" y="1636776"/>
            <a:ext cx="1709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INITIALIZE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984248"/>
            <a:ext cx="1709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Nₚ=10 random
chromosomes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03120" y="2011680.0"/>
            <a:ext cx="256032" cy="0.0"/>
          </a:xfrm>
          <a:prstGeom prst="line">
            <a:avLst/>
          </a:prstGeom>
          <a:ln w="25400">
            <a:solidFill>
              <a:srgbClr val="2E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359152" y="1600200"/>
            <a:ext cx="1783080" cy="822960"/>
          </a:xfrm>
          <a:prstGeom prst="rect">
            <a:avLst/>
          </a:prstGeom>
          <a:solidFill>
            <a:srgbClr val="ED7D31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5728" y="1636776"/>
            <a:ext cx="1709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DECODE 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1984248"/>
            <a:ext cx="1709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Run Alg.2
for each 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42232" y="2011680.0"/>
            <a:ext cx="256032" cy="0.0"/>
          </a:xfrm>
          <a:prstGeom prst="line">
            <a:avLst/>
          </a:prstGeom>
          <a:ln w="25400">
            <a:solidFill>
              <a:srgbClr val="2E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398264" y="1600200"/>
            <a:ext cx="1783080" cy="822960"/>
          </a:xfrm>
          <a:prstGeom prst="rect">
            <a:avLst/>
          </a:prstGeom>
          <a:solidFill>
            <a:srgbClr val="ED7D31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636776"/>
            <a:ext cx="1709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984248"/>
            <a:ext cx="1709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Compute f_cov
or f_trav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81344" y="2011680.0"/>
            <a:ext cx="256032" cy="0.0"/>
          </a:xfrm>
          <a:prstGeom prst="line">
            <a:avLst/>
          </a:prstGeom>
          <a:ln w="25400">
            <a:solidFill>
              <a:srgbClr val="2E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37376" y="1600200"/>
            <a:ext cx="1783080" cy="822960"/>
          </a:xfrm>
          <a:prstGeom prst="rect">
            <a:avLst/>
          </a:prstGeom>
          <a:solidFill>
            <a:srgbClr val="ED7D31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1636776"/>
            <a:ext cx="1709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1984248"/>
            <a:ext cx="1709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Sort by
fitness ↑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0456" y="2011680.0"/>
            <a:ext cx="256032" cy="0.0"/>
          </a:xfrm>
          <a:prstGeom prst="line">
            <a:avLst/>
          </a:prstGeom>
          <a:ln w="25400">
            <a:solidFill>
              <a:srgbClr val="2E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476488" y="1600200"/>
            <a:ext cx="1783080" cy="822960"/>
          </a:xfrm>
          <a:prstGeom prst="rect">
            <a:avLst/>
          </a:prstGeom>
          <a:solidFill>
            <a:srgbClr val="1F3864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3064" y="1636776"/>
            <a:ext cx="17099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DONE?
g = Gₘₐₓ?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52176" y="1600200"/>
            <a:ext cx="1664208" cy="822960"/>
          </a:xfrm>
          <a:prstGeom prst="rect">
            <a:avLst/>
          </a:prstGeom>
          <a:solidFill>
            <a:srgbClr val="70AD47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88752" y="1636776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DISPATCH
BEST  A*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88752" y="1984248"/>
            <a:ext cx="15910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Couriers depart
optimal routes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259568" y="2011680.0"/>
            <a:ext cx="292608" cy="0.0"/>
          </a:xfrm>
          <a:prstGeom prst="line">
            <a:avLst/>
          </a:prstGeom>
          <a:ln w="254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296144" y="17190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AD47"/>
                </a:solidFill>
                <a:latin typeface="Calibri"/>
              </a:rPr>
              <a:t>YES  g=10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8028.0" y="2423160"/>
            <a:ext cx="0.0" cy="457200"/>
          </a:xfrm>
          <a:prstGeom prst="line">
            <a:avLst/>
          </a:prstGeom>
          <a:ln w="254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422892" y="24688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04040"/>
                </a:solidFill>
                <a:latin typeface="Calibri"/>
              </a:rPr>
              <a:t>NO  g&lt;10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360" y="2880360"/>
            <a:ext cx="1920240" cy="822960"/>
          </a:xfrm>
          <a:prstGeom prst="rect">
            <a:avLst/>
          </a:prstGeom>
          <a:solidFill>
            <a:srgbClr val="FFC000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73936" y="2916936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SELECT ELITE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73936" y="3264408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0000"/>
                </a:solidFill>
                <a:latin typeface="Calibri"/>
              </a:rPr>
              <a:t>Nₑ=2 best
chromosomes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57600" y="3291840.0"/>
            <a:ext cx="292608" cy="0.0"/>
          </a:xfrm>
          <a:prstGeom prst="line">
            <a:avLst/>
          </a:prstGeom>
          <a:ln w="254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950208" y="2880360"/>
            <a:ext cx="1920240" cy="822960"/>
          </a:xfrm>
          <a:prstGeom prst="rect">
            <a:avLst/>
          </a:prstGeom>
          <a:solidFill>
            <a:srgbClr val="ED7D31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86784" y="2916936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CROSSOVER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86784" y="3264408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Nₒ=6 offspring
pₑ=0.7 bias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870448" y="3291840.0"/>
            <a:ext cx="292608" cy="0.0"/>
          </a:xfrm>
          <a:prstGeom prst="line">
            <a:avLst/>
          </a:prstGeom>
          <a:ln w="254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163056" y="2880360"/>
            <a:ext cx="1920240" cy="822960"/>
          </a:xfrm>
          <a:prstGeom prst="rect">
            <a:avLst/>
          </a:prstGeom>
          <a:solidFill>
            <a:srgbClr val="A0A0A0"/>
          </a:solidFill>
          <a:ln w="1524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2916936"/>
            <a:ext cx="18470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MUTANTS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3264408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Nₘ=2 random
from U[0,1]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37360" y="3904488"/>
            <a:ext cx="6345936" cy="438912"/>
          </a:xfrm>
          <a:prstGeom prst="rect">
            <a:avLst/>
          </a:prstGeom>
          <a:solidFill>
            <a:srgbClr val="1F3864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0" y="3950208"/>
            <a:ext cx="6163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MERGE  →  New Population  (elite ∪ offspring ∪ mutants)  →  repeat DECODE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697480.0" y="3703320"/>
            <a:ext cx="0.0" cy="201168"/>
          </a:xfrm>
          <a:prstGeom prst="line">
            <a:avLst/>
          </a:prstGeom>
          <a:ln w="1524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10328.0" y="3703320"/>
            <a:ext cx="0.0" cy="201168"/>
          </a:xfrm>
          <a:prstGeom prst="line">
            <a:avLst/>
          </a:prstGeom>
          <a:ln w="1524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123176.0" y="3703320"/>
            <a:ext cx="0.0" cy="201168"/>
          </a:xfrm>
          <a:prstGeom prst="line">
            <a:avLst/>
          </a:prstGeom>
          <a:ln w="1524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48640" y="4123944"/>
            <a:ext cx="1188720" cy="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48640" y="2011680.0"/>
            <a:ext cx="0" cy="2112264.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48640" y="2011680.0"/>
            <a:ext cx="1810512" cy="0.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0" y="29260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ED7D31"/>
                </a:solidFill>
                <a:latin typeface="Calibri"/>
              </a:rPr>
              <a:t>← next
generation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577840"/>
            <a:ext cx="11731752" cy="384048"/>
          </a:xfrm>
          <a:prstGeom prst="rect">
            <a:avLst/>
          </a:prstGeom>
          <a:solidFill>
            <a:srgbClr val="1E1E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605272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  <a:latin typeface="Calibri"/>
              </a:rPr>
              <a:t>KEY: The entire loop (10 chromosomes × 10 generations = 100 decoder calls) must finish within Δ=2 min budget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BRKGA — Biased Crossover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How offspring inherit mostly from elite parents — gene by gene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0789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POPULATION STRUCTURE  (Nₚ=10)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44752"/>
            <a:ext cx="502920" cy="438912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49047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#1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444752"/>
            <a:ext cx="1463040" cy="438912"/>
          </a:xfrm>
          <a:prstGeom prst="rect">
            <a:avLst/>
          </a:prstGeom>
          <a:solidFill>
            <a:srgbClr val="FFF8DC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4904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Elite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883664"/>
            <a:ext cx="502920" cy="438912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92938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#2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1883664"/>
            <a:ext cx="1463040" cy="438912"/>
          </a:xfrm>
          <a:prstGeom prst="rect">
            <a:avLst/>
          </a:prstGeom>
          <a:solidFill>
            <a:srgbClr val="FFF8DC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9293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Elite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22576"/>
            <a:ext cx="502920" cy="438912"/>
          </a:xfrm>
          <a:prstGeom prst="rect">
            <a:avLst/>
          </a:prstGeom>
          <a:solidFill>
            <a:srgbClr val="ED7D3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368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322576"/>
            <a:ext cx="1463040" cy="438912"/>
          </a:xfrm>
          <a:prstGeom prst="rect">
            <a:avLst/>
          </a:prstGeom>
          <a:solidFill>
            <a:srgbClr val="FFEEE0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3682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Offspring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61488"/>
            <a:ext cx="502920" cy="438912"/>
          </a:xfrm>
          <a:prstGeom prst="rect">
            <a:avLst/>
          </a:prstGeom>
          <a:solidFill>
            <a:srgbClr val="ED7D3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80720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2761488"/>
            <a:ext cx="1463040" cy="438912"/>
          </a:xfrm>
          <a:prstGeom prst="rect">
            <a:avLst/>
          </a:prstGeom>
          <a:solidFill>
            <a:srgbClr val="FFEEE0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8072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Offspring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200400"/>
            <a:ext cx="502920" cy="438912"/>
          </a:xfrm>
          <a:prstGeom prst="rect">
            <a:avLst/>
          </a:prstGeom>
          <a:solidFill>
            <a:srgbClr val="ED7D3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2461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200400"/>
            <a:ext cx="1463040" cy="438912"/>
          </a:xfrm>
          <a:prstGeom prst="rect">
            <a:avLst/>
          </a:prstGeom>
          <a:solidFill>
            <a:srgbClr val="FFEEE0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2461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Offspring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39312"/>
            <a:ext cx="502920" cy="438912"/>
          </a:xfrm>
          <a:prstGeom prst="rect">
            <a:avLst/>
          </a:prstGeom>
          <a:solidFill>
            <a:srgbClr val="ED7D3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68503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3639312"/>
            <a:ext cx="1463040" cy="438912"/>
          </a:xfrm>
          <a:prstGeom prst="rect">
            <a:avLst/>
          </a:prstGeom>
          <a:solidFill>
            <a:srgbClr val="FFEEE0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36850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Offspring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078224"/>
            <a:ext cx="502920" cy="438912"/>
          </a:xfrm>
          <a:prstGeom prst="rect">
            <a:avLst/>
          </a:prstGeom>
          <a:solidFill>
            <a:srgbClr val="ED7D3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12394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078224"/>
            <a:ext cx="1463040" cy="438912"/>
          </a:xfrm>
          <a:prstGeom prst="rect">
            <a:avLst/>
          </a:prstGeom>
          <a:solidFill>
            <a:srgbClr val="FFEEE0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1239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Offspring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517136"/>
            <a:ext cx="502920" cy="438912"/>
          </a:xfrm>
          <a:prstGeom prst="rect">
            <a:avLst/>
          </a:prstGeom>
          <a:solidFill>
            <a:srgbClr val="ED7D3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45628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4517136"/>
            <a:ext cx="1463040" cy="438912"/>
          </a:xfrm>
          <a:prstGeom prst="rect">
            <a:avLst/>
          </a:prstGeom>
          <a:solidFill>
            <a:srgbClr val="FFEEE0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5628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Offspring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956048"/>
            <a:ext cx="502920" cy="438912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500176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4956048"/>
            <a:ext cx="146304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0017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Mutant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394960"/>
            <a:ext cx="502920" cy="438912"/>
          </a:xfrm>
          <a:prstGeom prst="rect">
            <a:avLst/>
          </a:prstGeom>
          <a:solidFill>
            <a:srgbClr val="A0A0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44068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5394960"/>
            <a:ext cx="1463040" cy="438912"/>
          </a:xfrm>
          <a:prstGeom prst="rect">
            <a:avLst/>
          </a:prstGeom>
          <a:solidFill>
            <a:srgbClr val="F2F2F2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5440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Mutant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989320"/>
            <a:ext cx="1234440" cy="274320"/>
          </a:xfrm>
          <a:prstGeom prst="rect">
            <a:avLst/>
          </a:prstGeom>
          <a:solidFill>
            <a:srgbClr val="FFC00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6616" y="60167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Elite (Nₑ=2)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45920" y="5989320"/>
            <a:ext cx="1234440" cy="274320"/>
          </a:xfrm>
          <a:prstGeom prst="rect">
            <a:avLst/>
          </a:prstGeom>
          <a:solidFill>
            <a:srgbClr val="ED7D31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82496" y="60167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Offspring (Nₒ=6)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71800" y="5989320"/>
            <a:ext cx="1234440" cy="274320"/>
          </a:xfrm>
          <a:prstGeom prst="rect">
            <a:avLst/>
          </a:prstGeom>
          <a:solidFill>
            <a:srgbClr val="A0A0A0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08376" y="60167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Mutants (Nₘ=2)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60520" y="1078992"/>
            <a:ext cx="7845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GENE-BY-GENE CROSSOVER  (pₑ=0.7 bias toward elite)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60520" y="1481328"/>
            <a:ext cx="822960" cy="594360"/>
          </a:xfrm>
          <a:prstGeom prst="rect">
            <a:avLst/>
          </a:prstGeom>
          <a:solidFill>
            <a:srgbClr val="1F3864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78808" y="1499616"/>
            <a:ext cx="786384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Elite
Parent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60520" y="2148840"/>
            <a:ext cx="822960" cy="594360"/>
          </a:xfrm>
          <a:prstGeom prst="rect">
            <a:avLst/>
          </a:prstGeom>
          <a:solidFill>
            <a:srgbClr val="1F3864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78808" y="2167128"/>
            <a:ext cx="786384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Non-Elite
Parent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60520" y="2816352"/>
            <a:ext cx="822960" cy="411480"/>
          </a:xfrm>
          <a:prstGeom prst="rect">
            <a:avLst/>
          </a:prstGeom>
          <a:solidFill>
            <a:srgbClr val="1F3864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78808" y="2834640"/>
            <a:ext cx="78638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Prob.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60520" y="3310128"/>
            <a:ext cx="822960" cy="256032"/>
          </a:xfrm>
          <a:prstGeom prst="rect">
            <a:avLst/>
          </a:prstGeom>
          <a:solidFill>
            <a:srgbClr val="EEEEEE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78808" y="3328416"/>
            <a:ext cx="7863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04040"/>
                </a:solidFill>
                <a:latin typeface="Calibri"/>
              </a:rPr>
              <a:t>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60520" y="3639312"/>
            <a:ext cx="822960" cy="512064"/>
          </a:xfrm>
          <a:prstGeom prst="rect">
            <a:avLst/>
          </a:prstGeom>
          <a:solidFill>
            <a:srgbClr val="1F3864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78808" y="3657600"/>
            <a:ext cx="786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Offspring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60520" y="4224528"/>
            <a:ext cx="822960" cy="274320"/>
          </a:xfrm>
          <a:prstGeom prst="rect">
            <a:avLst/>
          </a:prstGeom>
          <a:solidFill>
            <a:srgbClr val="EEEEEE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78808" y="4242816"/>
            <a:ext cx="786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04040"/>
                </a:solidFill>
                <a:latin typeface="Calibri"/>
              </a:rPr>
              <a:t>Source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33672" y="1481328"/>
            <a:ext cx="1005840" cy="594360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33672" y="1508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o₁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33672" y="17647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.91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33672" y="2148840"/>
            <a:ext cx="1005840" cy="594360"/>
          </a:xfrm>
          <a:prstGeom prst="rect">
            <a:avLst/>
          </a:prstGeom>
          <a:solidFill>
            <a:srgbClr val="2E54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33672" y="21762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33672" y="24323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DD7EE"/>
                </a:solidFill>
                <a:latin typeface="Calibri"/>
              </a:rPr>
              <a:t>0.23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33672" y="2816352"/>
            <a:ext cx="1005840" cy="411480"/>
          </a:xfrm>
          <a:prstGeom prst="rect">
            <a:avLst/>
          </a:prstGeom>
          <a:solidFill>
            <a:srgbClr val="70AD4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33672" y="28620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0.7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33672" y="33101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00"/>
                </a:solidFill>
                <a:latin typeface="Calibri"/>
              </a:rPr>
              <a:t>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33672" y="3639312"/>
            <a:ext cx="1005840" cy="512064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33672" y="371246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.91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33672" y="4224528"/>
            <a:ext cx="1005840" cy="274320"/>
          </a:xfrm>
          <a:prstGeom prst="rect">
            <a:avLst/>
          </a:prstGeom>
          <a:solidFill>
            <a:srgbClr val="FFC00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33672" y="424281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0000"/>
                </a:solidFill>
                <a:latin typeface="Calibri"/>
              </a:rPr>
              <a:t>elite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49240" y="1481328"/>
            <a:ext cx="1005840" cy="594360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49240" y="1508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o₂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49240" y="17647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.34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349240" y="2148840"/>
            <a:ext cx="1005840" cy="594360"/>
          </a:xfrm>
          <a:prstGeom prst="rect">
            <a:avLst/>
          </a:prstGeom>
          <a:solidFill>
            <a:srgbClr val="2E54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49240" y="21762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49240" y="24323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DD7EE"/>
                </a:solidFill>
                <a:latin typeface="Calibri"/>
              </a:rPr>
              <a:t>0.88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49240" y="2816352"/>
            <a:ext cx="1005840" cy="411480"/>
          </a:xfrm>
          <a:prstGeom prst="rect">
            <a:avLst/>
          </a:prstGeom>
          <a:solidFill>
            <a:srgbClr val="ED7D3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49240" y="28620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0.3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49240" y="33101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5496"/>
                </a:solidFill>
                <a:latin typeface="Calibri"/>
              </a:rPr>
              <a:t>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49240" y="3639312"/>
            <a:ext cx="1005840" cy="512064"/>
          </a:xfrm>
          <a:prstGeom prst="rect">
            <a:avLst/>
          </a:prstGeom>
          <a:solidFill>
            <a:srgbClr val="2E54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349240" y="371246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0.88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349240" y="4224528"/>
            <a:ext cx="1005840" cy="274320"/>
          </a:xfrm>
          <a:prstGeom prst="rect">
            <a:avLst/>
          </a:prstGeom>
          <a:solidFill>
            <a:srgbClr val="2E5496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49240" y="424281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non-e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64808" y="1481328"/>
            <a:ext cx="1005840" cy="594360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64808" y="1508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o₃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64808" y="17647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.77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64808" y="2148840"/>
            <a:ext cx="1005840" cy="594360"/>
          </a:xfrm>
          <a:prstGeom prst="rect">
            <a:avLst/>
          </a:prstGeom>
          <a:solidFill>
            <a:srgbClr val="2E54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64808" y="21762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o₃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64808" y="24323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DD7EE"/>
                </a:solidFill>
                <a:latin typeface="Calibri"/>
              </a:rPr>
              <a:t>0.41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64808" y="2816352"/>
            <a:ext cx="1005840" cy="411480"/>
          </a:xfrm>
          <a:prstGeom prst="rect">
            <a:avLst/>
          </a:prstGeom>
          <a:solidFill>
            <a:srgbClr val="70AD4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64808" y="28620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0.7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64808" y="33101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00"/>
                </a:solidFill>
                <a:latin typeface="Calibri"/>
              </a:rPr>
              <a:t>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64808" y="3639312"/>
            <a:ext cx="1005840" cy="512064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64808" y="371246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.77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464808" y="4224528"/>
            <a:ext cx="1005840" cy="274320"/>
          </a:xfrm>
          <a:prstGeom prst="rect">
            <a:avLst/>
          </a:prstGeom>
          <a:solidFill>
            <a:srgbClr val="FFC00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64808" y="424281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0000"/>
                </a:solidFill>
                <a:latin typeface="Calibri"/>
              </a:rPr>
              <a:t>elite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580376" y="1481328"/>
            <a:ext cx="1005840" cy="594360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580376" y="1508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o₄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580376" y="17647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.55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80376" y="2148840"/>
            <a:ext cx="1005840" cy="594360"/>
          </a:xfrm>
          <a:prstGeom prst="rect">
            <a:avLst/>
          </a:prstGeom>
          <a:solidFill>
            <a:srgbClr val="2E54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80376" y="21762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o₄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580376" y="24323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DD7EE"/>
                </a:solidFill>
                <a:latin typeface="Calibri"/>
              </a:rPr>
              <a:t>0.19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580376" y="2816352"/>
            <a:ext cx="1005840" cy="411480"/>
          </a:xfrm>
          <a:prstGeom prst="rect">
            <a:avLst/>
          </a:prstGeom>
          <a:solidFill>
            <a:srgbClr val="70AD4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580376" y="28620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0.7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580376" y="33101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00"/>
                </a:solidFill>
                <a:latin typeface="Calibri"/>
              </a:rPr>
              <a:t>↓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580376" y="3639312"/>
            <a:ext cx="1005840" cy="512064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580376" y="371246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.55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580376" y="4224528"/>
            <a:ext cx="1005840" cy="274320"/>
          </a:xfrm>
          <a:prstGeom prst="rect">
            <a:avLst/>
          </a:prstGeom>
          <a:solidFill>
            <a:srgbClr val="FFC00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580376" y="424281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0000"/>
                </a:solidFill>
                <a:latin typeface="Calibri"/>
              </a:rPr>
              <a:t>elite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695944" y="1481328"/>
            <a:ext cx="1005840" cy="594360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695944" y="1508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o₅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95944" y="17647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.12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695944" y="2148840"/>
            <a:ext cx="1005840" cy="594360"/>
          </a:xfrm>
          <a:prstGeom prst="rect">
            <a:avLst/>
          </a:prstGeom>
          <a:solidFill>
            <a:srgbClr val="2E54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695944" y="21762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o₅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5944" y="24323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DD7EE"/>
                </a:solidFill>
                <a:latin typeface="Calibri"/>
              </a:rPr>
              <a:t>0.73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695944" y="2816352"/>
            <a:ext cx="1005840" cy="411480"/>
          </a:xfrm>
          <a:prstGeom prst="rect">
            <a:avLst/>
          </a:prstGeom>
          <a:solidFill>
            <a:srgbClr val="ED7D3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695944" y="28620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0.3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95944" y="33101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5496"/>
                </a:solidFill>
                <a:latin typeface="Calibri"/>
              </a:rPr>
              <a:t>↓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695944" y="3639312"/>
            <a:ext cx="1005840" cy="512064"/>
          </a:xfrm>
          <a:prstGeom prst="rect">
            <a:avLst/>
          </a:prstGeom>
          <a:solidFill>
            <a:srgbClr val="2E54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695944" y="371246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0.73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95944" y="4224528"/>
            <a:ext cx="1005840" cy="274320"/>
          </a:xfrm>
          <a:prstGeom prst="rect">
            <a:avLst/>
          </a:prstGeom>
          <a:solidFill>
            <a:srgbClr val="2E5496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695944" y="424281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non-e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811512" y="1481328"/>
            <a:ext cx="1005840" cy="594360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811512" y="1508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c₁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811512" y="17647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.82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811512" y="2148840"/>
            <a:ext cx="1005840" cy="594360"/>
          </a:xfrm>
          <a:prstGeom prst="rect">
            <a:avLst/>
          </a:prstGeom>
          <a:solidFill>
            <a:srgbClr val="2E54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811512" y="21762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c₁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811512" y="24323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DD7EE"/>
                </a:solidFill>
                <a:latin typeface="Calibri"/>
              </a:rPr>
              <a:t>0.35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811512" y="2816352"/>
            <a:ext cx="1005840" cy="411480"/>
          </a:xfrm>
          <a:prstGeom prst="rect">
            <a:avLst/>
          </a:prstGeom>
          <a:solidFill>
            <a:srgbClr val="70AD4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811512" y="28620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0.7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811512" y="33101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00"/>
                </a:solidFill>
                <a:latin typeface="Calibri"/>
              </a:rPr>
              <a:t>↓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811512" y="3639312"/>
            <a:ext cx="1005840" cy="512064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811512" y="371246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</a:rPr>
              <a:t>.82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811512" y="4224528"/>
            <a:ext cx="1005840" cy="274320"/>
          </a:xfrm>
          <a:prstGeom prst="rect">
            <a:avLst/>
          </a:prstGeom>
          <a:solidFill>
            <a:srgbClr val="FFC00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811512" y="424281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0000"/>
                </a:solidFill>
                <a:latin typeface="Calibri"/>
              </a:rPr>
              <a:t>elite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927080" y="1481328"/>
            <a:ext cx="1005840" cy="594360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927080" y="15087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c₂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27080" y="17647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.47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927080" y="2148840"/>
            <a:ext cx="1005840" cy="594360"/>
          </a:xfrm>
          <a:prstGeom prst="rect">
            <a:avLst/>
          </a:prstGeom>
          <a:solidFill>
            <a:srgbClr val="2E54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927080" y="21762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c₂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927080" y="24323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DD7EE"/>
                </a:solidFill>
                <a:latin typeface="Calibri"/>
              </a:rPr>
              <a:t>0.91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0927080" y="2816352"/>
            <a:ext cx="1005840" cy="411480"/>
          </a:xfrm>
          <a:prstGeom prst="rect">
            <a:avLst/>
          </a:prstGeom>
          <a:solidFill>
            <a:srgbClr val="ED7D3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927080" y="28620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0.3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27080" y="33101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5496"/>
                </a:solidFill>
                <a:latin typeface="Calibri"/>
              </a:rPr>
              <a:t>↓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927080" y="3639312"/>
            <a:ext cx="1005840" cy="512064"/>
          </a:xfrm>
          <a:prstGeom prst="rect">
            <a:avLst/>
          </a:prstGeom>
          <a:solidFill>
            <a:srgbClr val="2E54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927080" y="371246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0.91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0927080" y="4224528"/>
            <a:ext cx="1005840" cy="274320"/>
          </a:xfrm>
          <a:prstGeom prst="rect">
            <a:avLst/>
          </a:prstGeom>
          <a:solidFill>
            <a:srgbClr val="2E5496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927080" y="424281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non-e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160520" y="4617720"/>
            <a:ext cx="7845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04040"/>
                </a:solidFill>
                <a:latin typeface="Calibri"/>
              </a:rPr>
              <a:t>Green = 0.7 (elite gene wins)   Orange = 0.3 (non-elite gene wins)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160520" y="4937760"/>
            <a:ext cx="7845552" cy="822960"/>
          </a:xfrm>
          <a:prstGeom prst="rect">
            <a:avLst/>
          </a:prstGeom>
          <a:solidFill>
            <a:srgbClr val="1E1E2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270248" y="4974336"/>
            <a:ext cx="76260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  <a:latin typeface="Calibri"/>
              </a:rPr>
              <a:t>KEY INSIGHT:  Each gene independently drawn from Elite with p=0.7, Non-Elite with p=0.3.
Result: offspring inherit ~70% elite genes → exploit good solutions while preserving diversity.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Algorithm 2 — Chromosome Decoder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Translates a random-key chromosome into a feasible assignment set A^w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7772400" cy="5394960"/>
          </a:xfrm>
          <a:prstGeom prst="rect">
            <a:avLst/>
          </a:prstGeom>
          <a:solidFill>
            <a:srgbClr val="1E1E2E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170432"/>
            <a:ext cx="7552944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D700"/>
                </a:solidFill>
                <a:latin typeface="Courier New"/>
              </a:rPr>
              <a:t>Algorithm 2: Chromosome Decoder for window 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6A9955"/>
                </a:solidFill>
                <a:latin typeface="Courier New"/>
              </a:rPr>
              <a:t>Require: chromosome x, O^w, C^w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6A9955"/>
                </a:solidFill>
                <a:latin typeface="Courier New"/>
              </a:rPr>
              <a:t>Ensure:  Assignment set A and fitness 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urier New"/>
              </a:rPr>
              <a:t>1:  Extract order keys x[1..|O^w|] and courier keys x[|O^w|+1..|O^w|+|C^w|]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BE9FD"/>
                </a:solidFill>
                <a:latin typeface="Courier New"/>
              </a:rPr>
              <a:t>2:  Sort O^w by order key (desc)  → priority list π_O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BE9FD"/>
                </a:solidFill>
                <a:latin typeface="Courier New"/>
              </a:rPr>
              <a:t>3:  Sort C^w by courier key (desc) → priority list π_C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urier New"/>
              </a:rPr>
              <a:t>4:  Group π_O by store: { O^w_r }_{r∈R}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BE9FD"/>
                </a:solidFill>
                <a:latin typeface="Courier New"/>
              </a:rPr>
              <a:t>5:  A ← ∅;  assigned ← ∅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6:  for all store r (ordered by first pending order in π_O) 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BE9FD"/>
                </a:solidFill>
                <a:latin typeface="Courier New"/>
              </a:rPr>
              <a:t>    7:    avail ← C^w \ assigned couriers, sorted by π_C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8:    while O^w_r ≠ ∅  AND  avail ≠ ∅ 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BE9FD"/>
                </a:solidFill>
                <a:latin typeface="Courier New"/>
              </a:rPr>
              <a:t>        9:        best ← None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    10:       for all batch size k = 1 … K 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urier New"/>
              </a:rPr>
              <a:t>            11:           s ← first k unassigned orders of O^w_r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        12:           for all c in top-K couriers of avail 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BE9FD"/>
                </a:solidFill>
                <a:latin typeface="Courier New"/>
              </a:rPr>
              <a:t>                13:               route ← nearest-neighbor(c, r, 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            14:               if feasible AND finish_time &lt; best 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D700"/>
                </a:solidFill>
                <a:latin typeface="Courier New"/>
              </a:rPr>
              <a:t>                    15:                   best ← (c, s, route)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        16:           end for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    17:       end for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    18:       if best ≠ None then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BE9FD"/>
                </a:solidFill>
                <a:latin typeface="Courier New"/>
              </a:rPr>
              <a:t>            19:           A ← A ∪ {(best.c, best.s)};  mark assigned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    20:       else  break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    21:   end while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9C6"/>
                </a:solidFill>
                <a:latin typeface="Courier New"/>
              </a:rPr>
              <a:t>22: end for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D700"/>
                </a:solidFill>
                <a:latin typeface="Courier New"/>
              </a:rPr>
              <a:t>23: Compute ρ = |A|/|O^w|,  τ̄ = avg travel time from A;  evaluate 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D700"/>
                </a:solidFill>
                <a:latin typeface="Courier New"/>
              </a:rPr>
              <a:t>24: return A, 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0789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DECODER 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444752"/>
            <a:ext cx="1143000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490472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Input chromosome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444752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51790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ourier New"/>
              </a:rPr>
              <a:t>x = [0.91, 0.34, 0.77 | 0.82, 0.47]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2130552"/>
            <a:ext cx="1143000" cy="59436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176272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Order priority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2130552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20370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ourier New"/>
              </a:rPr>
              <a:t>o₁ ≻ o₃ ≻ o₂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2816352"/>
            <a:ext cx="114300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2862072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Courier priority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2816352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88950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ourier New"/>
              </a:rPr>
              <a:t>c₁ ≻ c₂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3502152"/>
            <a:ext cx="11430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3547872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Assign o₁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3502152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357530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ourier New"/>
              </a:rPr>
              <a:t>Try c₁ first → route(c₁,r,{o₁}) feasible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4187952"/>
            <a:ext cx="11430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4233672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Batch o₁+o₃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4187952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426110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ourier New"/>
              </a:rPr>
              <a:t>k=2 batch → route(c₁,r,{o₁,o₃}) feasible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4873752"/>
            <a:ext cx="1143000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4919472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Assign o₂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4873752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494690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ourier New"/>
              </a:rPr>
              <a:t>c₁ used → try c₂ → route(c₂,r,{o₂}) 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5559552"/>
            <a:ext cx="114300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5605272"/>
            <a:ext cx="1097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Result 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5559552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0" y="5632704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ourier New"/>
              </a:rPr>
              <a:t>A = {(c₁,{o₁,o₃}), (c₂,{o₂})}   ρ=1.0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Algorithm 3 — BRKGA Rolling-Horizon Main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Full evolutionary cycle executed once every Δ = 2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7772400" cy="5376672"/>
          </a:xfrm>
          <a:prstGeom prst="rect">
            <a:avLst/>
          </a:prstGeom>
          <a:solidFill>
            <a:srgbClr val="1E1E2E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170432"/>
            <a:ext cx="7552944" cy="5193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D700"/>
                </a:solidFill>
                <a:latin typeface="Courier New"/>
              </a:rPr>
              <a:t>Algorithm 3: BRKGA Rolling-Horizon main loop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i="1">
                <a:solidFill>
                  <a:srgbClr val="6A9955"/>
                </a:solidFill>
                <a:latin typeface="Courier New"/>
              </a:rPr>
              <a:t>Require: Orders O, Couriers C, window length Δ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8F8F2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8BE9FD"/>
                </a:solidFill>
                <a:latin typeface="Courier New"/>
              </a:rPr>
              <a:t>1:  Initialise; assigned ← ∅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79C6"/>
                </a:solidFill>
                <a:latin typeface="Courier New"/>
              </a:rPr>
              <a:t>2:  for w = 0, Δ, 2Δ, …, 1440 do                         ▷ 720 dispatch epochs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8F8F2"/>
                </a:solidFill>
                <a:latin typeface="Courier New"/>
              </a:rPr>
              <a:t>    3:    Release couriers whose routes finished ≤ 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8BE9FD"/>
                </a:solidFill>
                <a:latin typeface="Courier New"/>
              </a:rPr>
              <a:t>    4:    O^w ← { o ∈ O \ assigned : s^r_o ≤ w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8BE9FD"/>
                </a:solidFill>
                <a:latin typeface="Courier New"/>
              </a:rPr>
              <a:t>    5:    C^w ← idle couriers at time 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79C6"/>
                </a:solidFill>
                <a:latin typeface="Courier New"/>
              </a:rPr>
              <a:t>    6:    if O^w = ∅ or C^w = ∅ then continue end if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8F8F2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i="1">
                <a:solidFill>
                  <a:srgbClr val="6A9955"/>
                </a:solidFill>
                <a:latin typeface="Courier New"/>
              </a:rPr>
              <a:t>    // ─── BRKGA must complete within Δ = 2 minutes ───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8BE9FD"/>
                </a:solidFill>
                <a:latin typeface="Courier New"/>
              </a:rPr>
              <a:t>    7:    Initialise population P ~ U[0,1]^{Nₚ × (|O^w|+|C^w|)}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8BE9FD"/>
                </a:solidFill>
                <a:latin typeface="Courier New"/>
              </a:rPr>
              <a:t>    8:    f* ← ∞;  A* ← ∅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8F8F2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79C6"/>
                </a:solidFill>
                <a:latin typeface="Courier New"/>
              </a:rPr>
              <a:t>    9:    for g = 1 … Gₘₐₓ (= 10) do                         ▷ evolutionary loop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79C6"/>
                </a:solidFill>
                <a:latin typeface="Courier New"/>
              </a:rPr>
              <a:t>        10:       for all x ∈ P 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8F8F2"/>
                </a:solidFill>
                <a:latin typeface="Courier New"/>
              </a:rPr>
              <a:t>            11:           (A, f) ← Decode(x, O^w, C^w)               ▷ Algorithm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D700"/>
                </a:solidFill>
                <a:latin typeface="Courier New"/>
              </a:rPr>
              <a:t>            12:           if f &lt; f* then  f* ← f;  A* ← 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79C6"/>
                </a:solidFill>
                <a:latin typeface="Courier New"/>
              </a:rPr>
              <a:t>        13:       end for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8F8F2"/>
                </a:solidFill>
                <a:latin typeface="Courier New"/>
              </a:rPr>
              <a:t>        14:       Select Nₑ=2 elite; generate Nₒ=6 offspring + Nₘ=2 mutants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8BE9FD"/>
                </a:solidFill>
                <a:latin typeface="Courier New"/>
              </a:rPr>
              <a:t>        15:       P ← elite ∪ offspring ∪ mutants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79C6"/>
                </a:solidFill>
                <a:latin typeface="Courier New"/>
              </a:rPr>
              <a:t>    16:   end for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>
                <a:solidFill>
                  <a:srgbClr val="F8F8F2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D700"/>
                </a:solidFill>
                <a:latin typeface="Courier New"/>
              </a:rPr>
              <a:t>    17:   Dispatch A*;  update state and assigned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79C6"/>
                </a:solidFill>
                <a:latin typeface="Courier New"/>
              </a:rPr>
              <a:t>18: end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0789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FITNESS FUNCTIONS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444752"/>
            <a:ext cx="3749039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444752"/>
            <a:ext cx="3749039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46304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f_cov  (BRKGA-Coverage)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7451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ourier New"/>
              </a:rPr>
              <a:t>  ρ &lt; 0.50  →  10⁹(1-ρ) + τ̄/20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0428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ourier New"/>
              </a:rPr>
              <a:t>  ρ &lt; 0.60  →  10⁷(1-ρ) + τ̄/20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734055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ourier New"/>
              </a:rPr>
              <a:t>  ρ ≥ 0.60  →  10⁵(1-ρ) + τ̄/20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63823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alibri"/>
              </a:rPr>
              <a:t>→ Priority: coverage first, travel second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3886200"/>
            <a:ext cx="3749039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3886200"/>
            <a:ext cx="3749039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3904487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f_trav  (BRKGA-Travel)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3159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ourier New"/>
              </a:rPr>
              <a:t>  ρ &lt; 0.50  →  10⁶(1-ρ) + τ̄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74573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ourier New"/>
              </a:rPr>
              <a:t>  ρ ≥ 0.50  →  10⁴(1-ρ) + τ̄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517550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alibri"/>
              </a:rPr>
              <a:t>  Softer penalty → allows coverage/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6052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alibri"/>
              </a:rPr>
              <a:t>    travel tradeoffs (~25% faster)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24 real-world instances from a Latin American food-delivery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7132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DATA SOURCE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Anonymized operational data from a Colombian delivery app — one full day per instance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Dispatch interval Δ = 2 min → 720 decision epochs; planning horizon = 1,440 min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INSTANCE TIERS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Small   (S): |O| &lt; 5,000   — 13 instances    avg |O| = 2,423    avg |C| ≈ 1,200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Medium  (M): 5,000–20,000  —  5 instances    avg |O| = 10,210   avg |C| ≈ 3,800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Large   (L): |O| &gt; 20,000  —  6 instances    avg |O| = 37,518   avg |C| ≈ 11,200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EVALUATION METRICS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Coverage rate ρ = |Ō|/|O|  (orders delivered / orders placed)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Average travel time τ̄ per delivered order (min/order)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Total daily execution time T (seconds, sum over all windows)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HARDWARE / SOFTWARE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Python 3.7 · Intel Core i9-12900H · 16 GB RAM · Windows 11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All four methods run under identical rolling-horizon conditions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0789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INSTANCE DISTRIBUTION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463040"/>
            <a:ext cx="1188720" cy="384048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11556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5496"/>
                </a:solidFill>
                <a:latin typeface="Calibri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53492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  <a:latin typeface="Calibri"/>
              </a:rPr>
              <a:t>Small
13 inst.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852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04040"/>
                </a:solidFill>
                <a:latin typeface="Calibri"/>
              </a:rPr>
              <a:t>avg 2,423 orders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3826412"/>
            <a:ext cx="1188720" cy="147710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347894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53492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  <a:latin typeface="Calibri"/>
              </a:rPr>
              <a:t>Medium
5 inst.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5852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04040"/>
                </a:solidFill>
                <a:latin typeface="Calibri"/>
              </a:rPr>
              <a:t>avg 10,210 orders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3530990"/>
            <a:ext cx="1188720" cy="1772529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318351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0AD47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53492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  <a:latin typeface="Calibri"/>
              </a:rPr>
              <a:t>Large
6 inst.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5852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04040"/>
                </a:solidFill>
                <a:latin typeface="Calibri"/>
              </a:rPr>
              <a:t>avg 37,518 orders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Results — Coverage Rate (ρ)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Percentage of orders successfully delivered by end of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1371600" cy="475488"/>
          </a:xfrm>
          <a:prstGeom prst="rect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" y="1179576"/>
            <a:ext cx="1298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1115568"/>
            <a:ext cx="548640" cy="475488"/>
          </a:xfrm>
          <a:prstGeom prst="rect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28216" y="117957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1115568"/>
            <a:ext cx="1463040" cy="475488"/>
          </a:xfrm>
          <a:prstGeom prst="rect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76856" y="1179576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BRKGA-Cov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1115568"/>
            <a:ext cx="1463040" cy="475488"/>
          </a:xfrm>
          <a:prstGeom prst="rect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9896" y="1179576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BRKGA-Trav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0" y="1115568"/>
            <a:ext cx="1417320" cy="475488"/>
          </a:xfrm>
          <a:prstGeom prst="rect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2936" y="1179576"/>
            <a:ext cx="1344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115568"/>
            <a:ext cx="1417320" cy="475488"/>
          </a:xfrm>
          <a:prstGeom prst="rect">
            <a:avLst/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1179576"/>
            <a:ext cx="1344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591056"/>
            <a:ext cx="137160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1655064"/>
            <a:ext cx="1298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04040"/>
                </a:solidFill>
                <a:latin typeface="Calibri"/>
              </a:rPr>
              <a:t>Small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1591056"/>
            <a:ext cx="54864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28216" y="165506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04040"/>
                </a:solidFill>
                <a:latin typeface="Calibri"/>
              </a:rPr>
              <a:t>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1591056"/>
            <a:ext cx="1463040" cy="475488"/>
          </a:xfrm>
          <a:prstGeom prst="rect">
            <a:avLst/>
          </a:prstGeom>
          <a:solidFill>
            <a:srgbClr val="FFE6CC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76856" y="1655064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05000"/>
                </a:solidFill>
                <a:latin typeface="Calibri"/>
              </a:rPr>
              <a:t>64.8%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1591056"/>
            <a:ext cx="1463040" cy="475488"/>
          </a:xfrm>
          <a:prstGeom prst="rect">
            <a:avLst/>
          </a:prstGeom>
          <a:solidFill>
            <a:srgbClr val="FFE6CC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9896" y="1655064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05000"/>
                </a:solidFill>
                <a:latin typeface="Calibri"/>
              </a:rPr>
              <a:t>64.8%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66360" y="1591056"/>
            <a:ext cx="141732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02936" y="1655064"/>
            <a:ext cx="1344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04040"/>
                </a:solidFill>
                <a:latin typeface="Calibri"/>
              </a:rPr>
              <a:t>53.6%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1591056"/>
            <a:ext cx="141732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0256" y="1655064"/>
            <a:ext cx="1344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04040"/>
                </a:solidFill>
                <a:latin typeface="Calibri"/>
              </a:rPr>
              <a:t>46.0%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066544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" y="2130552"/>
            <a:ext cx="1298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04040"/>
                </a:solidFill>
                <a:latin typeface="Calibri"/>
              </a:rPr>
              <a:t>Medium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91640" y="2066544"/>
            <a:ext cx="548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28216" y="2130552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04040"/>
                </a:solidFill>
                <a:latin typeface="Calibri"/>
              </a:rPr>
              <a:t> 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066544"/>
            <a:ext cx="1463040" cy="475488"/>
          </a:xfrm>
          <a:prstGeom prst="rect">
            <a:avLst/>
          </a:prstGeom>
          <a:solidFill>
            <a:srgbClr val="FFE6CC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76856" y="2130552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05000"/>
                </a:solidFill>
                <a:latin typeface="Calibri"/>
              </a:rPr>
              <a:t>59.1%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2066544"/>
            <a:ext cx="1463040" cy="475488"/>
          </a:xfrm>
          <a:prstGeom prst="rect">
            <a:avLst/>
          </a:prstGeom>
          <a:solidFill>
            <a:srgbClr val="FFE6CC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9896" y="2130552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05000"/>
                </a:solidFill>
                <a:latin typeface="Calibri"/>
              </a:rPr>
              <a:t>59.1%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6360" y="2066544"/>
            <a:ext cx="1417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02936" y="2130552"/>
            <a:ext cx="1344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04040"/>
                </a:solidFill>
                <a:latin typeface="Calibri"/>
              </a:rPr>
              <a:t>46.0%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2066544"/>
            <a:ext cx="1417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0256" y="2130552"/>
            <a:ext cx="1344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04040"/>
                </a:solidFill>
                <a:latin typeface="Calibri"/>
              </a:rPr>
              <a:t>38.4%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2542032"/>
            <a:ext cx="137160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6616" y="2606040"/>
            <a:ext cx="1298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04040"/>
                </a:solidFill>
                <a:latin typeface="Calibri"/>
              </a:rPr>
              <a:t>Large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1640" y="2542032"/>
            <a:ext cx="54864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28216" y="260604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04040"/>
                </a:solidFill>
                <a:latin typeface="Calibri"/>
              </a:rPr>
              <a:t> 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40280" y="2542032"/>
            <a:ext cx="146304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76856" y="260604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04040"/>
                </a:solidFill>
                <a:latin typeface="Calibri"/>
              </a:rPr>
              <a:t>47.2%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03320" y="2542032"/>
            <a:ext cx="146304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39896" y="2606040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04040"/>
                </a:solidFill>
                <a:latin typeface="Calibri"/>
              </a:rPr>
              <a:t>47.3%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66360" y="2542032"/>
            <a:ext cx="1417320" cy="475488"/>
          </a:xfrm>
          <a:prstGeom prst="rect">
            <a:avLst/>
          </a:prstGeom>
          <a:solidFill>
            <a:srgbClr val="FFE6CC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02936" y="2606040"/>
            <a:ext cx="1344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05000"/>
                </a:solidFill>
                <a:latin typeface="Calibri"/>
              </a:rPr>
              <a:t>51.1%*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2542032"/>
            <a:ext cx="1417320" cy="475488"/>
          </a:xfrm>
          <a:prstGeom prst="rect">
            <a:avLst/>
          </a:prstGeom>
          <a:solidFill>
            <a:srgbClr val="BDD7EE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20256" y="2606040"/>
            <a:ext cx="1344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404040"/>
                </a:solidFill>
                <a:latin typeface="Calibri"/>
              </a:rPr>
              <a:t>44.8%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017520"/>
            <a:ext cx="1371600" cy="475488"/>
          </a:xfrm>
          <a:prstGeom prst="rect">
            <a:avLst/>
          </a:prstGeom>
          <a:solidFill>
            <a:srgbClr val="D6E4F0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6616" y="3081528"/>
            <a:ext cx="1298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404040"/>
                </a:solidFill>
                <a:latin typeface="Calibri"/>
              </a:rPr>
              <a:t>All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91640" y="3017520"/>
            <a:ext cx="548640" cy="475488"/>
          </a:xfrm>
          <a:prstGeom prst="rect">
            <a:avLst/>
          </a:prstGeom>
          <a:solidFill>
            <a:srgbClr val="D6E4F0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28216" y="308152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404040"/>
                </a:solidFill>
                <a:latin typeface="Calibri"/>
              </a:rPr>
              <a:t>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40280" y="3017520"/>
            <a:ext cx="1463040" cy="475488"/>
          </a:xfrm>
          <a:prstGeom prst="rect">
            <a:avLst/>
          </a:prstGeom>
          <a:solidFill>
            <a:srgbClr val="FFE6CC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76856" y="3081528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05000"/>
                </a:solidFill>
                <a:latin typeface="Calibri"/>
              </a:rPr>
              <a:t>59.2%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703320" y="3017520"/>
            <a:ext cx="1463040" cy="475488"/>
          </a:xfrm>
          <a:prstGeom prst="rect">
            <a:avLst/>
          </a:prstGeom>
          <a:solidFill>
            <a:srgbClr val="FFE6CC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39896" y="3081528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05000"/>
                </a:solidFill>
                <a:latin typeface="Calibri"/>
              </a:rPr>
              <a:t>59.2%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66360" y="3017520"/>
            <a:ext cx="1417320" cy="475488"/>
          </a:xfrm>
          <a:prstGeom prst="rect">
            <a:avLst/>
          </a:prstGeom>
          <a:solidFill>
            <a:srgbClr val="D6E4F0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02936" y="3081528"/>
            <a:ext cx="1344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404040"/>
                </a:solidFill>
                <a:latin typeface="Calibri"/>
              </a:rPr>
              <a:t>51.4%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0" y="3017520"/>
            <a:ext cx="1417320" cy="475488"/>
          </a:xfrm>
          <a:prstGeom prst="rect">
            <a:avLst/>
          </a:prstGeom>
          <a:solidFill>
            <a:srgbClr val="D6E4F0"/>
          </a:solidFill>
          <a:ln w="63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20256" y="3081528"/>
            <a:ext cx="1344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404040"/>
                </a:solidFill>
                <a:latin typeface="Calibri"/>
              </a:rPr>
              <a:t>44.1%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" y="3547872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04040"/>
                </a:solidFill>
                <a:latin typeface="Calibri"/>
              </a:rPr>
              <a:t>* BML outperforms BRKGA on all 6 large instances — deterministic lookahead scales better under fixed generation budget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78240" y="11155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Coverage by Instance Size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869680" y="1798755"/>
            <a:ext cx="173736" cy="33858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61704" y="1798755"/>
            <a:ext cx="173736" cy="33858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53728" y="2383971"/>
            <a:ext cx="173736" cy="2800676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445752" y="2781082"/>
            <a:ext cx="173736" cy="2403565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69680" y="522122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Small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11512" y="2096588"/>
            <a:ext cx="173736" cy="308805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03536" y="2096588"/>
            <a:ext cx="173736" cy="3088059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195560" y="2781082"/>
            <a:ext cx="173736" cy="2403565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387584" y="3178193"/>
            <a:ext cx="173736" cy="2006454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11512" y="522122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Medium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753344" y="2718380"/>
            <a:ext cx="173736" cy="246626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945368" y="2713155"/>
            <a:ext cx="173736" cy="24714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137392" y="2514600"/>
            <a:ext cx="173736" cy="2670048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329416" y="2843784"/>
            <a:ext cx="173736" cy="2340864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753344" y="522122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  <a:latin typeface="Calibri"/>
              </a:rPr>
              <a:t>Large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869680" y="5641848"/>
            <a:ext cx="164592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70848" y="5623560"/>
            <a:ext cx="6035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BRKGA-C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674352" y="5641848"/>
            <a:ext cx="164592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875520" y="5623560"/>
            <a:ext cx="6035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BRKGA-T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79024" y="5641848"/>
            <a:ext cx="164592" cy="164592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680192" y="5623560"/>
            <a:ext cx="6035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BML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283696" y="5641848"/>
            <a:ext cx="164592" cy="164592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484864" y="5623560"/>
            <a:ext cx="6035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BM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Results — Execution Time &amp; Travel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BRKGA-Travel faster than Coverage; BML slowest on large instances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EXECUTION TIME  (total over all windows)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BRKGA-Travel ~25% faster than BRKGA-Coverage — softer fitness → faster convergence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BML dramatically slower on large instances (demand-forecast computation overhead)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Instance 6 (Large, 59k orders): T_BML = 6,738 s   vs   T_BC = 490 s  → 13.7× difference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TRAVEL TIME PER DELIVERED ORDER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BRKGA-Coverage:  27.90 min/order   vs   BRKGA-Travel:  27.86 min/order  (&lt; 0.2% diff)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Nearest-neighbor decoder dominates route quality — fitness function barely differentiates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Small instances: τ̄ ≈ 25 min/order   vs   Large: τ̄ ≈ 33 min/order  (wider geographic spread)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KEY TAKEAWAY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BRKGA-Travel strictly dominates BRKGA-Coverage: same coverage, lower runtime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No free lunch — BML's lookahead pays off only for very large instances (|O| &gt; 20k)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1155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Relative Exec. Time (Large Instances)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5270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Calibri"/>
              </a:rPr>
              <a:t>BM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1527048"/>
            <a:ext cx="235131" cy="45720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1075" y="158191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Calibri"/>
              </a:rPr>
              <a:t>1.0×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11226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Calibri"/>
              </a:rPr>
              <a:t>BML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2112264"/>
            <a:ext cx="3221300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17244" y="216712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0000"/>
                </a:solidFill>
                <a:latin typeface="Calibri"/>
              </a:rPr>
              <a:t>13.7×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974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Calibri"/>
              </a:rPr>
              <a:t>BRKGA-C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2697480"/>
            <a:ext cx="235131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1075" y="275234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Calibri"/>
              </a:rPr>
              <a:t>1.0×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28269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Calibri"/>
              </a:rPr>
              <a:t>BRKGA-T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3282696"/>
            <a:ext cx="176348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72292" y="33375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Calibri"/>
              </a:rPr>
              <a:t>0.8×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7731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04040"/>
                </a:solidFill>
                <a:latin typeface="Calibri"/>
              </a:rPr>
              <a:t>(relative to BM execution time on large instances)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Practical Decision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Which dispatching method to deploy? — A flowchart based on our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078992"/>
            <a:ext cx="2423160" cy="640080"/>
          </a:xfrm>
          <a:prstGeom prst="rect">
            <a:avLst/>
          </a:prstGeom>
          <a:solidFill>
            <a:srgbClr val="1F3864"/>
          </a:solidFill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1133856"/>
            <a:ext cx="2276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START
New dispatching day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08192" y="1719072"/>
            <a:ext cx="0" cy="292608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iamond 12"/>
          <p:cNvSpPr/>
          <p:nvPr/>
        </p:nvSpPr>
        <p:spPr>
          <a:xfrm>
            <a:off x="4690872" y="1984248"/>
            <a:ext cx="2834640" cy="1060704"/>
          </a:xfrm>
          <a:prstGeom prst="diamond">
            <a:avLst/>
          </a:prstGeom>
          <a:solidFill>
            <a:srgbClr val="2E549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Daily order
volume |O|?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5496"/>
                </a:solidFill>
                <a:latin typeface="Calibri"/>
              </a:rPr>
              <a:t>|O| &lt; 20k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0000"/>
                </a:solidFill>
                <a:latin typeface="Calibri"/>
              </a:rPr>
              <a:t>|O| &gt; 20k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474720" y="2514600"/>
            <a:ext cx="1216152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74720" y="2514600"/>
            <a:ext cx="0" cy="54864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2240280" y="3035808"/>
            <a:ext cx="2468880" cy="1060704"/>
          </a:xfrm>
          <a:prstGeom prst="diamond">
            <a:avLst/>
          </a:prstGeom>
          <a:solidFill>
            <a:srgbClr val="2E549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Is exec. time
critical?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74720" y="4096512"/>
            <a:ext cx="0" cy="521208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09160" y="3566160"/>
            <a:ext cx="1051560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148840" y="4617720"/>
            <a:ext cx="2651760" cy="914400"/>
          </a:xfrm>
          <a:prstGeom prst="rect">
            <a:avLst/>
          </a:prstGeom>
          <a:solidFill>
            <a:srgbClr val="70AD47"/>
          </a:solidFill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21992" y="4672584"/>
            <a:ext cx="25054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BRKGA-Travel
✓ Same coverage
✓ 25% faster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297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AD47"/>
                </a:solidFill>
                <a:latin typeface="Calibri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017520"/>
            <a:ext cx="2651760" cy="914400"/>
          </a:xfrm>
          <a:prstGeom prst="rect">
            <a:avLst/>
          </a:prstGeom>
          <a:solidFill>
            <a:srgbClr val="ED7D31"/>
          </a:solidFill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3872" y="3072384"/>
            <a:ext cx="25054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BRKGA-Coverage
✓ Max coverage
(slight overhead)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4015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NO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25512" y="2514600"/>
            <a:ext cx="1618488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2514600"/>
            <a:ext cx="0" cy="54864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863840" y="3063240"/>
            <a:ext cx="2560320" cy="914400"/>
          </a:xfrm>
          <a:prstGeom prst="rect">
            <a:avLst/>
          </a:prstGeom>
          <a:solidFill>
            <a:srgbClr val="8B0000"/>
          </a:solidFill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36992" y="3118104"/>
            <a:ext cx="241401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Business Model
Lookahead (BML)
✓ Best coverage at scale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5687568"/>
            <a:ext cx="6080760" cy="566928"/>
          </a:xfrm>
          <a:prstGeom prst="rect">
            <a:avLst/>
          </a:prstGeom>
          <a:solidFill>
            <a:srgbClr val="1F3864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36392" y="5742432"/>
            <a:ext cx="5934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HYBRID STRATEGY: Monitor daily |O| → switch method automatically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74720" y="5532120"/>
            <a:ext cx="0" cy="155448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6108192" y="3566160"/>
            <a:ext cx="978408" cy="2121408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3977639"/>
            <a:ext cx="0" cy="1993393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144000" y="5971032"/>
            <a:ext cx="0" cy="283464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BRKGA-RH advances the state of practice for real-time meal delivery dispatching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07899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MAIN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444752"/>
            <a:ext cx="5715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BRKGA variants outperform BM/BML on small &amp; medium instances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+11 to +20 pp coverage gain over BML   |   +19 to +27 pp over BM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BML competitive on large instances (|O| &gt; 20k)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Demand-forecast deferral consolidates larger batches at scale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BRKGA's fixed Gmax=10 limits exploration on high-volume days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BRKGA-Travel preferred over BRKGA-Coverage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Same or better coverage across all instance sizes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~25% faster — critical advantage in real-time dispatch (2-min budget)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Travel time nearly identical across BRKGA variants (27.9 min/order)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    –  Nearest-neighbor decoder dominates route quality regardless of fitness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8" y="1078992"/>
            <a:ext cx="36576" cy="5376672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078992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CONTRIBUTIONS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44752"/>
            <a:ext cx="5715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First BRKGA integration with rolling-horizon for online MDRP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Chromosome encoding guaranteeing feasibility without repair operators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Two fitness variants targeting coverage vs. travel-time efficiency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Systematic benchmark on 24 real-world heterogeneous instances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Empirical evidence that travel-time fitness dominates coverage-only fitness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Recommended hybrid deployment strategy based on instance size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04040"/>
                </a:solidFill>
                <a:latin typeface="Calibri"/>
              </a:rPr>
              <a:t>•  Open-source implementation available on GitHub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88952" cy="55229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94944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DD7EE"/>
                </a:solidFill>
                <a:latin typeface="Calibri"/>
              </a:rPr>
              <a:t>Extending the BRKGA-Rolling Horizon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2881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Daniel Giraldo-Herrera &amp; David Alvarez-Martinez  |  Universidad de los Andes  |  MIC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4592" y="652881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15568"/>
            <a:ext cx="1828800" cy="8686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17556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Adaptive Generation 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115568"/>
            <a:ext cx="990295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1225296"/>
            <a:ext cx="96286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Dynamically adjust Gmax and Np based on available time budget and instance density — eliminate the large-instance scalability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03120"/>
            <a:ext cx="1828800" cy="86868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176272"/>
            <a:ext cx="17556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Courier Fairness Objectives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2103120"/>
            <a:ext cx="990295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2212848"/>
            <a:ext cx="96286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Multi-objective BRKGA: Pareto frontier between coverage rate ρ and courier workload equity (min/max order distribution)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90672"/>
            <a:ext cx="1828800" cy="8686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163824"/>
            <a:ext cx="17556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Online Demand-Forecast Learning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3090672"/>
            <a:ext cx="990295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3200400"/>
            <a:ext cx="96286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Replace static BML heuristic weights with RL demand predictor that adapts during the operating day using streaming order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078224"/>
            <a:ext cx="18288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151376"/>
            <a:ext cx="17556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Ghost Kitchens &amp; Multi-Platform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4078224"/>
            <a:ext cx="990295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4187952"/>
            <a:ext cx="96286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Extend formulation to virtual kitchens (dynamic pickup locations) and cooperative logistics across competing platforms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065776"/>
            <a:ext cx="1828800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138928"/>
            <a:ext cx="17556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Live Field Trial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5065776"/>
            <a:ext cx="990295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5175504"/>
            <a:ext cx="96286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Deploy BRKGA-Travel in A/B test on real platform — measure customer satisfaction, courier income, and platform profit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